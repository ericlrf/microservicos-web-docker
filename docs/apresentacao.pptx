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00:00-01:00 (1 minuto).
Abra com a pergunta: "Uma loja muda seu catálogo toda semana, mas a autenticação muda pouco. Como organizar essas responsabilidades?"
Explique que a aula relaciona arquitetura e execução: diferenciar as alternativas, reconhecer Auth/Catalog/Gateway e interpretar a demonstração.
Informe que os alunos não precisarão instalar ferramentas durante os 15 minutos.
Os dois blocos ilustram responsabilidades; não representam promessa de autonomia completa, de tolerância a falhas nem de atualização sem interrupção.
Transição: "Antes de executar, precisamos separar duas ideias: arquitetura e contêiner."
[Sources]
https://learn.microsoft.com/en-us/azure/architecture/guide/architecture-styles/microservices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01:00-04:00 (3 minutos).
01:00-02:15: compare unidades de implantação. No monólito didático, Auth e Catalog fazem parte da mesma aplicação implantada. Em microsserviços, responsabilidades podem ser construídas e implantadas separadamente, com contratos de comunicação. Monólitos podem ser modulares e adequados.
02:15-03:15: imagem é o pacote utilizado para criar contêineres; contêiner é uma instância de execução. Compose define e gerencia uma aplicação com vários contêineres. Não é exclusivo de desenvolvimento e não oferece escalabilidade automática simplesmente por usar up.
03:15-04:00: pergunte: "Dois contêineres bastam para provar que existem microsserviços independentes?" Resposta: não; interfaces, dados e dependências também importam.
Transição: "Vamos observar esses conceitos em um gateway, um Auth e um Catalog."
[Sources]
https://learn.microsoft.com/en-us/azure/architecture/guide/architecture-styles/microservices
https://docs.docker.com/compose/
https://docs.docker.com/get-started/docker-concepts/the-basics/what-is-an-image/
https://docs.docker.com/get-started/docker-concepts/the-basics/what-is-a-container/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04:00-11:00 (7 minutos).
PREPARAR ANTES: criar .env; construir imagens; executar 22 testes HTTP e conferir o acesso por http://localhost:8080/health. Esta entrega não executou Docker; consulte docs/VALIDACAO.md. Não apresentar as respostas esperadas como evidências medidas antes de testar.
04:00-05:00: mostre as pastas e docker-compose.yml. Destaque build por serviço, porta publicada somente no gateway, AUTH_URL e CATALOG_URL por nome de serviço, healthchecks e depends_on.
05:00-06:00: execute docker compose up --wait --no-build; depois docker compose ps. Não fazer build durante a apresentação.
06:00-07:00: confira /health no navegador; pergunte o que deve acontecer sem token. /health avalia somente a vida do gateway.
07:00-09:30: execute docker compose exec -T api-gateway node demo.mjs. Ele mostra saúde, 401 sem token, login com token parcialmente oculto e consulta paginada com HTTP 200. Leia brevemente o JSON. Não exiba a .env nem o token inteiro.
09:30-11:00: consulte logs. Mostre o X-Request-ID correlacionado e os prefixos removidos em app.use('/auth', ...) e app.use('/api', ...). O gateway não deve consumir o corpo com express.json antes do proxy; quem faz o parsing é o Auth.
O cliente da demo roda dentro do gateway, portanto o teste pelo navegador complementa a verificação da porta publicada.
CONTINGÊNCIA: substituir parte destes sete minutos por gravação/capturas preparadas pelo instrutor, identificando a execução anterior. O pacote não inclui vídeo. Sem capturas, explique os arquivos e diferencie comportamento esperado de observado.
[Sources]
https://docs.docker.com/reference/cli/docker/compose/up/
https://docs.docker.com/compose/how-tos/networking/
https://docs.docker.com/compose/how-tos/startup-order/
https://expressjs.com/en/guide/using-middleware/
https://github.com/http-party/node-http-proxy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11:00-13:00 (2 minutos).
O diagrama destaca o caminho da consulta protegida, não o login. O fluxo de login é cliente -&gt; gateway -&gt; Auth /login -&gt; cliente. Para consultar produtos: cliente apresenta Bearer; gateway envia o JWT ao Auth /verify; após resposta válida, gateway encaminha /products ao Catalog e retorna o JSON ao cliente. Não existe chamada direta de Auth para Catalog.
Auth verifica assinatura, algoritmo HS256, issuer, audience, expiração e formato das claims. O gateway exige a autenticação e aplica o resultado. O Catalog não valida JWT nesta demo; não publicar sua porta externamente. Role é apenas demonstrativa; não há autorização por papel.
Benefício ilustrado: alterar implementação do Catalog preservando contratos. Não prometer zero downtime ao recriar o container.
Custo demonstrado pelo desenho: Auth é uma dependência síncrona de toda chamada protegida. Se ele parar, /health do gateway pode continuar 200, /ready detecta indisponibilidade e retorna 503, e chamadas com token retornam 503/504. Sem token, o gateway pode retornar 401 antes de consultar Auth.
Pergunte: "Saúde do processo é a mesma coisa que disponibilidade do fluxo inteiro?" Não.
A falha controlada está no README como atividade posterior, fora dos sete minutos da demo.
[Sources]
https://github.com/auth0/node-jsonwebtoken
https://learn.microsoft.com/en-us/azure/architecture/guide/architecture-styles/microservices
https://docs.docker.com/compose/how-tos/startup-order/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13:00-15:00 (2 minutos).
Avaliação formativa no chat. Dê cerca de 20 segundos por pergunta e faça devolutivas curtas.
1. Microsserviço e contêiner são a mesma coisa? Não. Microsserviços organizam responsabilidades; contêineres são uma forma de execução.
2. Quem valida JWT? Auth valida; gateway exige e consulta Auth.
3. Se Auth parar? O gateway pode permanecer vivo, mas consultas protegidas que dependem de Auth falham. /health pode ser 200; /ready retorna 503; a chamada protegida com token pode retornar 503/504. A resposta 401 por falta de token continua possível.
Avalie a explicação, não o simples download do material.
Atividade posterior: executar o projeto, alterar um nome em catalog-service/products.json e usar docker compose up -d --build --no-deps catalog-service. Repetir a consulta autenticada e explicar o que mudou. A recriação pode interromper chamadas, portanto não significa zero downtime.
Distribua README, roteiro, fontes e os arquivos do projeto. Não há link GitHub publicado nem vídeo fornecido. Feche em 15 minutos; dúvidas extensas ficam para o próximo encontro.
Referências e limites de validação estão no pacote.
[Sources]
https://learn.microsoft.com/en-us/azure/architecture/guide/architecture-styles/microservices
https://docs.docker.com/reference/cli/docker/compose/up/
https://github.com/auth0/node-jsonwebtoken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E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ONLINE  /  15 MINUTOS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61288"/>
            <a:ext cx="70408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3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Microsserviços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Docker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585216" y="2916936"/>
            <a:ext cx="6903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atualizar o catálogo</a:t>
            </a:r>
            <a:endParaRPr lang="en-US" sz="2700" dirty="0"/>
          </a:p>
          <a:p>
            <a:pPr indent="0" marL="0">
              <a:buNone/>
            </a:pPr>
            <a:r>
              <a:rPr lang="en-US" sz="270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alterar a autenticação?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85216" y="431596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Técnico em Desenvolvimento de Sistemas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982712" y="1508760"/>
            <a:ext cx="3593592" cy="1133856"/>
          </a:xfrm>
          <a:prstGeom prst="roundRect">
            <a:avLst>
              <a:gd name="adj" fmla="val 11290"/>
            </a:avLst>
          </a:prstGeom>
          <a:solidFill>
            <a:srgbClr val="141D32"/>
          </a:solidFill>
          <a:ln w="12700">
            <a:solidFill>
              <a:srgbClr val="2E3B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57032" y="1691640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E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57032" y="2112264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Autenticação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982712" y="2944368"/>
            <a:ext cx="3593592" cy="1133856"/>
          </a:xfrm>
          <a:prstGeom prst="roundRect">
            <a:avLst>
              <a:gd name="adj" fmla="val 11290"/>
            </a:avLst>
          </a:prstGeom>
          <a:solidFill>
            <a:srgbClr val="18243C"/>
          </a:solidFill>
          <a:ln w="12700">
            <a:solidFill>
              <a:srgbClr val="6EE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7032" y="3127248"/>
            <a:ext cx="30358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EE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57032" y="3547872"/>
            <a:ext cx="3035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Produtos da loja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019288" y="4343400"/>
            <a:ext cx="3547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Responsabilidades diferentes.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bem definidas.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699248" y="1517904"/>
            <a:ext cx="0" cy="2569464"/>
          </a:xfrm>
          <a:prstGeom prst="line">
            <a:avLst/>
          </a:prstGeom>
          <a:noFill/>
          <a:ln w="19050">
            <a:solidFill>
              <a:srgbClr val="2E3B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5175504"/>
            <a:ext cx="11045952" cy="822960"/>
          </a:xfrm>
          <a:prstGeom prst="roundRect">
            <a:avLst>
              <a:gd name="adj" fmla="val 15556"/>
            </a:avLst>
          </a:prstGeom>
          <a:solidFill>
            <a:srgbClr val="141D32"/>
          </a:solidFill>
          <a:ln w="12700">
            <a:solidFill>
              <a:srgbClr val="2E3B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5376672"/>
            <a:ext cx="256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E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1016" y="5367528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Diferenciar arquiteturas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71416" y="5376672"/>
            <a:ext cx="256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E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901184" y="5367528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 o fluxo HTTP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092440" y="5376672"/>
            <a:ext cx="2560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E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8522208" y="5367528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Interpretar o Compose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85216" y="63733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alunos acompanham sem instalar ferramentas.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171432" y="63733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AE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00:00-01:00  |  01 / 05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DE SISTEMAS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503920" y="31089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E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01:00-04:00  |  3 min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não é contêiner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C8A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MICROSSERVIÇOS  /  DOCKER COMPOSE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789920" y="63916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05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358384" cy="2606040"/>
          </a:xfrm>
          <a:prstGeom prst="roundRect">
            <a:avLst>
              <a:gd name="adj" fmla="val 4912"/>
            </a:avLst>
          </a:prstGeom>
          <a:solidFill>
            <a:srgbClr val="141D32"/>
          </a:solidFill>
          <a:ln w="12700">
            <a:solidFill>
              <a:srgbClr val="2E3B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27064" y="1737360"/>
            <a:ext cx="5358384" cy="2606040"/>
          </a:xfrm>
          <a:prstGeom prst="roundRect">
            <a:avLst>
              <a:gd name="adj" fmla="val 4912"/>
            </a:avLst>
          </a:prstGeom>
          <a:solidFill>
            <a:srgbClr val="141D32"/>
          </a:solidFill>
          <a:ln w="12700">
            <a:solidFill>
              <a:srgbClr val="2E3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5681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MONÓLITO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01384" y="195681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E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MICROSSERVIÇOS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59536" y="2633472"/>
            <a:ext cx="4727448" cy="832104"/>
          </a:xfrm>
          <a:prstGeom prst="roundRect">
            <a:avLst>
              <a:gd name="adj" fmla="val 15385"/>
            </a:avLst>
          </a:prstGeom>
          <a:solidFill>
            <a:srgbClr val="18243C"/>
          </a:solidFill>
          <a:ln w="12700">
            <a:solidFill>
              <a:srgbClr val="2E3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2816352"/>
            <a:ext cx="4288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    +     Catalog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68680" y="3712464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unidade de implantação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528816" y="2633472"/>
            <a:ext cx="2167128" cy="832104"/>
          </a:xfrm>
          <a:prstGeom prst="roundRect">
            <a:avLst>
              <a:gd name="adj" fmla="val 15385"/>
            </a:avLst>
          </a:prstGeom>
          <a:solidFill>
            <a:srgbClr val="18243C"/>
          </a:solidFill>
          <a:ln w="12700">
            <a:solidFill>
              <a:srgbClr val="AE97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25712" y="2633472"/>
            <a:ext cx="2139696" cy="832104"/>
          </a:xfrm>
          <a:prstGeom prst="roundRect">
            <a:avLst>
              <a:gd name="adj" fmla="val 15385"/>
            </a:avLst>
          </a:prstGeom>
          <a:solidFill>
            <a:srgbClr val="18243C"/>
          </a:solidFill>
          <a:ln w="12700">
            <a:solidFill>
              <a:srgbClr val="6EE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281635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E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262872" y="2816352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EE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46520" y="3694176"/>
            <a:ext cx="4965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 de implantação separadas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8640" y="4745736"/>
            <a:ext cx="34655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AE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IMAGEM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5175504"/>
            <a:ext cx="34655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Pacote da aplicação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334256" y="4745736"/>
            <a:ext cx="34655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AE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CONTÊINER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334256" y="5175504"/>
            <a:ext cx="34655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Instância em execução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119872" y="4745736"/>
            <a:ext cx="34655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100" kern="0" dirty="0">
                <a:solidFill>
                  <a:srgbClr val="AE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119872" y="5175504"/>
            <a:ext cx="34655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Gerencia vários contêineres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557784" y="600760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monólito pode ser uma boa escolha. A arquitetura depende do contexto.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DE SISTEMAS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503920" y="31089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E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04:00-11:00  |  7 min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configuração ao teste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C8A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MICROSSERVIÇOS  /  DOCKER COMPOSE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789920" y="63916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05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746504"/>
            <a:ext cx="7068312" cy="2798064"/>
          </a:xfrm>
          <a:prstGeom prst="roundRect">
            <a:avLst>
              <a:gd name="adj" fmla="val 4575"/>
            </a:avLst>
          </a:prstGeom>
          <a:solidFill>
            <a:srgbClr val="141D32"/>
          </a:solidFill>
          <a:ln w="12700">
            <a:solidFill>
              <a:srgbClr val="2E3B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1947672"/>
            <a:ext cx="6528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70" kern="0" dirty="0">
                <a:solidFill>
                  <a:srgbClr val="AE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 /  IMAGENS JÁ CONSTRUÍDAS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496312"/>
            <a:ext cx="6473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10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--wait --no-build</a:t>
            </a:r>
            <a:endParaRPr lang="en-US" sz="1710" dirty="0"/>
          </a:p>
        </p:txBody>
      </p:sp>
      <p:sp>
        <p:nvSpPr>
          <p:cNvPr id="10" name="Text 8"/>
          <p:cNvSpPr/>
          <p:nvPr/>
        </p:nvSpPr>
        <p:spPr>
          <a:xfrm>
            <a:off x="822960" y="2990088"/>
            <a:ext cx="6473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10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ps</a:t>
            </a:r>
            <a:endParaRPr lang="en-US" sz="1710" dirty="0"/>
          </a:p>
        </p:txBody>
      </p:sp>
      <p:sp>
        <p:nvSpPr>
          <p:cNvPr id="11" name="Text 9"/>
          <p:cNvSpPr/>
          <p:nvPr/>
        </p:nvSpPr>
        <p:spPr>
          <a:xfrm>
            <a:off x="822960" y="3493008"/>
            <a:ext cx="6473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exec -T api-gateway node demo.mjs</a:t>
            </a:r>
            <a:endParaRPr lang="en-US" sz="1640" dirty="0"/>
          </a:p>
        </p:txBody>
      </p:sp>
      <p:sp>
        <p:nvSpPr>
          <p:cNvPr id="12" name="Text 10"/>
          <p:cNvSpPr/>
          <p:nvPr/>
        </p:nvSpPr>
        <p:spPr>
          <a:xfrm>
            <a:off x="822960" y="3995928"/>
            <a:ext cx="6473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40" dirty="0">
                <a:solidFill>
                  <a:srgbClr val="F5F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logs --tail 15 catalog-service</a:t>
            </a:r>
            <a:endParaRPr lang="en-US" sz="1640" dirty="0"/>
          </a:p>
        </p:txBody>
      </p:sp>
      <p:sp>
        <p:nvSpPr>
          <p:cNvPr id="13" name="Shape 11"/>
          <p:cNvSpPr/>
          <p:nvPr/>
        </p:nvSpPr>
        <p:spPr>
          <a:xfrm>
            <a:off x="7909560" y="1746504"/>
            <a:ext cx="3675888" cy="2798064"/>
          </a:xfrm>
          <a:prstGeom prst="roundRect">
            <a:avLst>
              <a:gd name="adj" fmla="val 4575"/>
            </a:avLst>
          </a:prstGeom>
          <a:solidFill>
            <a:srgbClr val="141D32"/>
          </a:solidFill>
          <a:ln w="12700">
            <a:solidFill>
              <a:srgbClr val="2E3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74736" y="1947672"/>
            <a:ext cx="31181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RESPOSTAS ESPERADAS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74736" y="256946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034272" y="2587752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token</a:t>
            </a:r>
            <a:endParaRPr lang="en-US" sz="1630" dirty="0"/>
          </a:p>
        </p:txBody>
      </p:sp>
      <p:sp>
        <p:nvSpPr>
          <p:cNvPr id="17" name="Text 15"/>
          <p:cNvSpPr/>
          <p:nvPr/>
        </p:nvSpPr>
        <p:spPr>
          <a:xfrm>
            <a:off x="8174736" y="316382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EE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034272" y="3182112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válido</a:t>
            </a:r>
            <a:endParaRPr lang="en-US" sz="1630" dirty="0"/>
          </a:p>
        </p:txBody>
      </p:sp>
      <p:sp>
        <p:nvSpPr>
          <p:cNvPr id="19" name="Text 17"/>
          <p:cNvSpPr/>
          <p:nvPr/>
        </p:nvSpPr>
        <p:spPr>
          <a:xfrm>
            <a:off x="8174736" y="37581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EE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034272" y="3776472"/>
            <a:ext cx="2221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30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 autenticado</a:t>
            </a:r>
            <a:endParaRPr lang="en-US" sz="1630" dirty="0"/>
          </a:p>
        </p:txBody>
      </p:sp>
      <p:sp>
        <p:nvSpPr>
          <p:cNvPr id="21" name="Text 19"/>
          <p:cNvSpPr/>
          <p:nvPr/>
        </p:nvSpPr>
        <p:spPr>
          <a:xfrm>
            <a:off x="585216" y="4855464"/>
            <a:ext cx="70043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Leia o que o proxy encaminha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594360" y="5330952"/>
            <a:ext cx="67025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E9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/auth/login    -&gt;  /login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94360" y="5769864"/>
            <a:ext cx="67025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EE7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/api/products  -&gt;  /products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037576" y="4855464"/>
            <a:ext cx="350215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o JSON e relacione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chamada aos logs.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token aparece ocultado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parcialmente na demo.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DE SISTEMAS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503920" y="31089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E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11:00-13:00  |  2 min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caminho de uma requisição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C8A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MICROSSERVIÇOS  /  DOCKER COMPOSE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789920" y="63916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05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1682496"/>
            <a:ext cx="10698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15" kern="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 PROTEGIDA AO CATÁLOGO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779776"/>
            <a:ext cx="1773936" cy="1088136"/>
          </a:xfrm>
          <a:prstGeom prst="roundRect">
            <a:avLst>
              <a:gd name="adj" fmla="val 11765"/>
            </a:avLst>
          </a:prstGeom>
          <a:solidFill>
            <a:srgbClr val="141D32"/>
          </a:solidFill>
          <a:ln w="12700">
            <a:solidFill>
              <a:srgbClr val="2E3B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3108960"/>
            <a:ext cx="14721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044952" y="2670048"/>
            <a:ext cx="2414016" cy="1307592"/>
          </a:xfrm>
          <a:prstGeom prst="roundRect">
            <a:avLst>
              <a:gd name="adj" fmla="val 9790"/>
            </a:avLst>
          </a:prstGeom>
          <a:solidFill>
            <a:srgbClr val="18243C"/>
          </a:solidFill>
          <a:ln w="12700">
            <a:solidFill>
              <a:srgbClr val="AE9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55264" y="2880360"/>
            <a:ext cx="199339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E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218688" y="3465576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Exige o token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0" y="2011680"/>
            <a:ext cx="3346704" cy="1234440"/>
          </a:xfrm>
          <a:prstGeom prst="roundRect">
            <a:avLst>
              <a:gd name="adj" fmla="val 10370"/>
            </a:avLst>
          </a:prstGeom>
          <a:solidFill>
            <a:srgbClr val="18243C"/>
          </a:solidFill>
          <a:ln w="12700">
            <a:solidFill>
              <a:srgbClr val="AE9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76488" y="2157984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E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476488" y="2715768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 assinatura e claims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0" y="3813048"/>
            <a:ext cx="3346704" cy="1225296"/>
          </a:xfrm>
          <a:prstGeom prst="roundRect">
            <a:avLst>
              <a:gd name="adj" fmla="val 10448"/>
            </a:avLst>
          </a:prstGeom>
          <a:solidFill>
            <a:srgbClr val="18243C"/>
          </a:solidFill>
          <a:ln w="12700">
            <a:solidFill>
              <a:srgbClr val="6EE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6488" y="3968496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EE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476488" y="4517136"/>
            <a:ext cx="28437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Retorna os produtos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377440" y="3319272"/>
            <a:ext cx="612648" cy="0"/>
          </a:xfrm>
          <a:prstGeom prst="line">
            <a:avLst/>
          </a:prstGeom>
          <a:noFill/>
          <a:ln w="25400">
            <a:solidFill>
              <a:srgbClr val="AE97F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504688" y="2980944"/>
            <a:ext cx="301752" cy="0"/>
          </a:xfrm>
          <a:prstGeom prst="line">
            <a:avLst/>
          </a:prstGeom>
          <a:noFill/>
          <a:ln w="25400">
            <a:solidFill>
              <a:srgbClr val="AE97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06440" y="2980944"/>
            <a:ext cx="0" cy="-566928"/>
          </a:xfrm>
          <a:prstGeom prst="line">
            <a:avLst/>
          </a:prstGeom>
          <a:noFill/>
          <a:ln w="25400">
            <a:solidFill>
              <a:srgbClr val="AE97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06440" y="2414016"/>
            <a:ext cx="2331720" cy="0"/>
          </a:xfrm>
          <a:prstGeom prst="line">
            <a:avLst/>
          </a:prstGeom>
          <a:noFill/>
          <a:ln w="25400">
            <a:solidFill>
              <a:srgbClr val="AE97FF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080760" y="19568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E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/verify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5971032" y="2679192"/>
            <a:ext cx="21305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válido?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504688" y="3639312"/>
            <a:ext cx="301752" cy="0"/>
          </a:xfrm>
          <a:prstGeom prst="line">
            <a:avLst/>
          </a:prstGeom>
          <a:noFill/>
          <a:ln w="25400">
            <a:solidFill>
              <a:srgbClr val="6EE7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06440" y="3639312"/>
            <a:ext cx="0" cy="749808"/>
          </a:xfrm>
          <a:prstGeom prst="line">
            <a:avLst/>
          </a:prstGeom>
          <a:noFill/>
          <a:ln w="25400">
            <a:solidFill>
              <a:srgbClr val="6EE7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06440" y="4389120"/>
            <a:ext cx="2331720" cy="0"/>
          </a:xfrm>
          <a:prstGeom prst="line">
            <a:avLst/>
          </a:prstGeom>
          <a:noFill/>
          <a:ln w="25400">
            <a:solidFill>
              <a:srgbClr val="6EE7D0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989320" y="3877056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EE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/products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5879592" y="4626864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após validação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76072" y="539496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EE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Benefício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76072" y="5769864"/>
            <a:ext cx="5102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80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Evoluir o catálogo separadamente,</a:t>
            </a:r>
            <a:endParaRPr lang="en-US" sz="1780" dirty="0"/>
          </a:p>
          <a:p>
            <a:pPr indent="0" marL="0">
              <a:buNone/>
            </a:pPr>
            <a:r>
              <a:rPr lang="en-US" sz="1780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preservando os contratos.</a:t>
            </a:r>
            <a:endParaRPr lang="en-US" sz="1780" dirty="0"/>
          </a:p>
        </p:txBody>
      </p:sp>
      <p:sp>
        <p:nvSpPr>
          <p:cNvPr id="32" name="Text 30"/>
          <p:cNvSpPr/>
          <p:nvPr/>
        </p:nvSpPr>
        <p:spPr>
          <a:xfrm>
            <a:off x="6236208" y="5394960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concreto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236208" y="5769864"/>
            <a:ext cx="52760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80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Auth, o gateway pode estar vivo</a:t>
            </a:r>
            <a:endParaRPr lang="en-US" sz="1780" dirty="0"/>
          </a:p>
          <a:p>
            <a:pPr indent="0" marL="0">
              <a:buNone/>
            </a:pPr>
            <a:r>
              <a:rPr lang="en-US" sz="1780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não atender chamadas protegidas.</a:t>
            </a:r>
            <a:endParaRPr lang="en-US" sz="1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DE SISTEMAS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8503920" y="31089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E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13:00-15:00  |  2 min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7782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consegue explicar?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7C8A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MICROSSERVIÇOS  /  DOCKER COMPOSE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789920" y="63916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05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1892808"/>
            <a:ext cx="676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E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545336" y="1837944"/>
            <a:ext cx="5788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Microsserviço e contêiner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a mesma coisa?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3227832"/>
            <a:ext cx="676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E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45336" y="3172968"/>
            <a:ext cx="5788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valida o JWT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nesta demonstração?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566928" y="4562856"/>
            <a:ext cx="676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E9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545336" y="4507992"/>
            <a:ext cx="57881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ocorre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o Auth parar?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7991856" y="1773936"/>
            <a:ext cx="3593592" cy="4251960"/>
          </a:xfrm>
          <a:prstGeom prst="roundRect">
            <a:avLst>
              <a:gd name="adj" fmla="val 3562"/>
            </a:avLst>
          </a:prstGeom>
          <a:solidFill>
            <a:srgbClr val="141D32"/>
          </a:solidFill>
          <a:ln w="12700">
            <a:solidFill>
              <a:srgbClr val="2E3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075688"/>
            <a:ext cx="3008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spc="80" kern="0" dirty="0">
                <a:solidFill>
                  <a:srgbClr val="6EE7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DA AULA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75320" y="2761488"/>
            <a:ext cx="294436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o projeto.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Altere um produto.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Atualize só o catálogo.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8275320" y="4425696"/>
            <a:ext cx="296265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Explique as responsabilidades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 comportamento observado.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75320" y="5404104"/>
            <a:ext cx="29992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9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AE9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docs/roteiro-aula.md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76072" y="6062472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0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Responda no chat e justifique sua resposta.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Curso Tecnico em Desenvolvimento de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Microsserviços com Docker - Aula demonstrativa</dc:title>
  <dc:subject>Aula de 15 minutos: microsservicos, Docker Compose e JWT</dc:subject>
  <dc:creator>Material didatico</dc:creator>
  <cp:lastModifiedBy>Material didatico</cp:lastModifiedBy>
  <cp:revision>1</cp:revision>
  <dcterms:created xsi:type="dcterms:W3CDTF">2026-10-14T11:19:35Z</dcterms:created>
  <dcterms:modified xsi:type="dcterms:W3CDTF">2026-10-14T11:19:35Z</dcterms:modified>
</cp:coreProperties>
</file>